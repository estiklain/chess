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2" r:id="rId3"/>
    <p:sldId id="269" r:id="rId4"/>
    <p:sldId id="271" r:id="rId5"/>
    <p:sldId id="272" r:id="rId6"/>
    <p:sldId id="259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d79f92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ed79f92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0D4F47E-13AF-E9CB-B4A4-A509690C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d79f9230_0_39:notes">
            <a:extLst>
              <a:ext uri="{FF2B5EF4-FFF2-40B4-BE49-F238E27FC236}">
                <a16:creationId xmlns:a16="http://schemas.microsoft.com/office/drawing/2014/main" id="{95ABDDDB-FEA5-5826-BEA4-C9527F8E1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ed79f9230_0_39:notes">
            <a:extLst>
              <a:ext uri="{FF2B5EF4-FFF2-40B4-BE49-F238E27FC236}">
                <a16:creationId xmlns:a16="http://schemas.microsoft.com/office/drawing/2014/main" id="{8D7397C5-CAD0-D298-AA3E-D13AE9263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541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CD0F220-6FAC-0C1B-0D8D-210436F5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d79f9230_0_39:notes">
            <a:extLst>
              <a:ext uri="{FF2B5EF4-FFF2-40B4-BE49-F238E27FC236}">
                <a16:creationId xmlns:a16="http://schemas.microsoft.com/office/drawing/2014/main" id="{38730E86-D7E8-9928-FE1A-7EA354E88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ed79f9230_0_39:notes">
            <a:extLst>
              <a:ext uri="{FF2B5EF4-FFF2-40B4-BE49-F238E27FC236}">
                <a16:creationId xmlns:a16="http://schemas.microsoft.com/office/drawing/2014/main" id="{47704390-B663-5671-A0FD-F1B093DF7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579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9D8C5F97-D59C-15FE-AE3E-5FFA2FA3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d79f9230_0_39:notes">
            <a:extLst>
              <a:ext uri="{FF2B5EF4-FFF2-40B4-BE49-F238E27FC236}">
                <a16:creationId xmlns:a16="http://schemas.microsoft.com/office/drawing/2014/main" id="{9693574E-047A-3687-8742-C4304BC4F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ed79f9230_0_39:notes">
            <a:extLst>
              <a:ext uri="{FF2B5EF4-FFF2-40B4-BE49-F238E27FC236}">
                <a16:creationId xmlns:a16="http://schemas.microsoft.com/office/drawing/2014/main" id="{D32C3202-43F5-68E6-4A4D-734B8364D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920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ed79f923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ed79f923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KamaTechOrg/CTD2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CTD 26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KungFu</a:t>
            </a:r>
            <a:r>
              <a:rPr lang="en-GB" dirty="0"/>
              <a:t> Chess Server - Graphics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1155CC"/>
                </a:solidFill>
              </a:rPr>
              <a:t>Graphics:</a:t>
            </a:r>
            <a:r>
              <a:rPr lang="en-GB" dirty="0"/>
              <a:t> Image – </a:t>
            </a:r>
            <a:r>
              <a:rPr lang="en-GB" dirty="0" err="1"/>
              <a:t>Color</a:t>
            </a:r>
            <a:r>
              <a:rPr lang="en-GB" dirty="0"/>
              <a:t> &amp; Transparency</a:t>
            </a:r>
            <a:endParaRPr dirty="0">
              <a:solidFill>
                <a:srgbClr val="134F5C"/>
              </a:solidFill>
            </a:endParaRPr>
          </a:p>
        </p:txBody>
      </p:sp>
      <p:sp>
        <p:nvSpPr>
          <p:cNvPr id="4" name="Google Shape;95;p19">
            <a:extLst>
              <a:ext uri="{FF2B5EF4-FFF2-40B4-BE49-F238E27FC236}">
                <a16:creationId xmlns:a16="http://schemas.microsoft.com/office/drawing/2014/main" id="{871B63B7-15CD-1059-CE26-68FFBC5AD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b="1" dirty="0" err="1"/>
              <a:t>Paint.Net</a:t>
            </a:r>
            <a:r>
              <a:rPr lang="en-GB" b="1" dirty="0"/>
              <a:t> </a:t>
            </a:r>
            <a:r>
              <a:rPr lang="en-GB" dirty="0"/>
              <a:t>– See the pixels. XY Axes in an image / screen.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b="1" dirty="0"/>
              <a:t>RGB </a:t>
            </a:r>
            <a:r>
              <a:rPr lang="en-GB" dirty="0"/>
              <a:t>– Playing with </a:t>
            </a:r>
            <a:r>
              <a:rPr lang="en-GB" dirty="0" err="1"/>
              <a:t>color</a:t>
            </a:r>
            <a:r>
              <a:rPr lang="en-GB" dirty="0"/>
              <a:t>. Memory layout.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b="1" dirty="0"/>
              <a:t>Transparency – </a:t>
            </a:r>
            <a:r>
              <a:rPr lang="en-GB" dirty="0"/>
              <a:t>The 4</a:t>
            </a:r>
            <a:r>
              <a:rPr lang="en-GB" baseline="30000" dirty="0"/>
              <a:t>th</a:t>
            </a:r>
            <a:r>
              <a:rPr lang="en-GB" dirty="0"/>
              <a:t> channel. Jpeg vs PNG. Bit depth.</a:t>
            </a:r>
          </a:p>
          <a:p>
            <a:pPr lvl="0">
              <a:buFont typeface="+mj-lt"/>
              <a:buAutoNum type="arabicPeriod"/>
            </a:pPr>
            <a:r>
              <a:rPr lang="en-GB" b="1" dirty="0" err="1"/>
              <a:t>Paint.Net</a:t>
            </a:r>
            <a:r>
              <a:rPr lang="en-GB" b="1" dirty="0"/>
              <a:t> – </a:t>
            </a:r>
            <a:r>
              <a:rPr lang="en-GB" dirty="0"/>
              <a:t>Layers, overlay, flattening</a:t>
            </a:r>
          </a:p>
          <a:p>
            <a:pPr lvl="0">
              <a:buFont typeface="+mj-lt"/>
              <a:buAutoNum type="arabicPeriod"/>
            </a:pPr>
            <a:r>
              <a:rPr lang="en-GB" b="1" dirty="0" err="1"/>
              <a:t>Paint.Net</a:t>
            </a:r>
            <a:r>
              <a:rPr lang="en-GB" dirty="0"/>
              <a:t> – </a:t>
            </a:r>
            <a:r>
              <a:rPr lang="en-GB" dirty="0" err="1"/>
              <a:t>Put_text</a:t>
            </a:r>
            <a:endParaRPr lang="en-GB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08A4D42-B6C1-7F74-7406-7A346CF0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>
            <a:extLst>
              <a:ext uri="{FF2B5EF4-FFF2-40B4-BE49-F238E27FC236}">
                <a16:creationId xmlns:a16="http://schemas.microsoft.com/office/drawing/2014/main" id="{20D4E5F8-F274-7626-3B48-34DA287A4E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1155CC"/>
                </a:solidFill>
              </a:rPr>
              <a:t>Graphics:</a:t>
            </a:r>
            <a:r>
              <a:rPr lang="en-GB" dirty="0"/>
              <a:t> Image – </a:t>
            </a:r>
            <a:r>
              <a:rPr lang="en-GB" dirty="0" err="1"/>
              <a:t>Color</a:t>
            </a:r>
            <a:r>
              <a:rPr lang="en-GB" dirty="0"/>
              <a:t> &amp; Transparency</a:t>
            </a:r>
            <a:endParaRPr dirty="0">
              <a:solidFill>
                <a:srgbClr val="134F5C"/>
              </a:solidFill>
            </a:endParaRPr>
          </a:p>
        </p:txBody>
      </p:sp>
      <p:pic>
        <p:nvPicPr>
          <p:cNvPr id="6" name="Google Shape;96;p19">
            <a:extLst>
              <a:ext uri="{FF2B5EF4-FFF2-40B4-BE49-F238E27FC236}">
                <a16:creationId xmlns:a16="http://schemas.microsoft.com/office/drawing/2014/main" id="{9A699E1A-673B-D5F2-61D5-3E301EE25F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9138"/>
            <a:ext cx="9143999" cy="13652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5;p19">
            <a:extLst>
              <a:ext uri="{FF2B5EF4-FFF2-40B4-BE49-F238E27FC236}">
                <a16:creationId xmlns:a16="http://schemas.microsoft.com/office/drawing/2014/main" id="{A68E7614-0DFB-5944-AE71-55246D254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 dirty="0"/>
              <a:t>You are given: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 dirty="0"/>
              <a:t>1. </a:t>
            </a:r>
            <a:r>
              <a:rPr lang="en-GB" dirty="0"/>
              <a:t>Basic Image reading and presentation library (</a:t>
            </a:r>
            <a:r>
              <a:rPr lang="en-GB" dirty="0">
                <a:hlinkClick r:id="rId4"/>
              </a:rPr>
              <a:t>repo</a:t>
            </a:r>
            <a:r>
              <a:rPr lang="en-GB" dirty="0"/>
              <a:t> + example):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b="1" dirty="0"/>
              <a:t>2. </a:t>
            </a:r>
            <a:r>
              <a:rPr lang="en-GB" dirty="0"/>
              <a:t>Animation images (</a:t>
            </a:r>
            <a:r>
              <a:rPr lang="en-GB" dirty="0" err="1"/>
              <a:t>a.k.a</a:t>
            </a:r>
            <a:r>
              <a:rPr lang="en-GB" dirty="0"/>
              <a:t> “Sprites”) in a predefined folder structure</a:t>
            </a:r>
            <a:br>
              <a:rPr lang="en-GB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117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4325A11-67FB-ED2A-834D-BE21462D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>
            <a:extLst>
              <a:ext uri="{FF2B5EF4-FFF2-40B4-BE49-F238E27FC236}">
                <a16:creationId xmlns:a16="http://schemas.microsoft.com/office/drawing/2014/main" id="{A18B50B4-67D7-EE30-14B8-B09B7FA40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1155CC"/>
                </a:solidFill>
              </a:rPr>
              <a:t>Graphics:</a:t>
            </a:r>
            <a:r>
              <a:rPr lang="en-GB" dirty="0"/>
              <a:t> Animation</a:t>
            </a:r>
            <a:endParaRPr dirty="0">
              <a:solidFill>
                <a:srgbClr val="134F5C"/>
              </a:solidFill>
            </a:endParaRPr>
          </a:p>
        </p:txBody>
      </p:sp>
      <p:sp>
        <p:nvSpPr>
          <p:cNvPr id="7" name="Google Shape;95;p19">
            <a:extLst>
              <a:ext uri="{FF2B5EF4-FFF2-40B4-BE49-F238E27FC236}">
                <a16:creationId xmlns:a16="http://schemas.microsoft.com/office/drawing/2014/main" id="{DDE4A9DB-5098-719F-3448-76EDEF276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 dirty="0"/>
              <a:t>Animations Explained</a:t>
            </a:r>
            <a:br>
              <a:rPr lang="en-GB" b="1" dirty="0"/>
            </a:br>
            <a:endParaRPr lang="en-GB" b="1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Serial, sometimes Circular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FPS, definitions Json.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State Machine (Mindset)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-GB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9472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9E5C919-7DB9-60FE-5279-7C7D54D1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>
            <a:extLst>
              <a:ext uri="{FF2B5EF4-FFF2-40B4-BE49-F238E27FC236}">
                <a16:creationId xmlns:a16="http://schemas.microsoft.com/office/drawing/2014/main" id="{8A88CD33-8A69-A81E-5B67-4C9823466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1155CC"/>
                </a:solidFill>
              </a:rPr>
              <a:t>Graphics:</a:t>
            </a:r>
            <a:r>
              <a:rPr lang="en-GB" dirty="0"/>
              <a:t> Animation</a:t>
            </a:r>
            <a:endParaRPr dirty="0">
              <a:solidFill>
                <a:srgbClr val="134F5C"/>
              </a:solidFill>
            </a:endParaRPr>
          </a:p>
        </p:txBody>
      </p:sp>
      <p:sp>
        <p:nvSpPr>
          <p:cNvPr id="7" name="Google Shape;95;p19">
            <a:extLst>
              <a:ext uri="{FF2B5EF4-FFF2-40B4-BE49-F238E27FC236}">
                <a16:creationId xmlns:a16="http://schemas.microsoft.com/office/drawing/2014/main" id="{A5623475-91E6-0A3E-532B-D85CA9D5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 dirty="0"/>
              <a:t>Game Controls</a:t>
            </a:r>
            <a:br>
              <a:rPr lang="en-GB" b="1" dirty="0"/>
            </a:br>
            <a:endParaRPr lang="en-GB" b="1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ym typeface="Wingdings" panose="05000000000000000000" pitchFamily="2" charset="2"/>
              </a:rPr>
              <a:t>Mouse events</a:t>
            </a:r>
            <a:endParaRPr lang="en-GB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Relative window location and dynamic size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Screen pixels vs. image pixels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How to test yourself ?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529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Additional Requirements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Moves log</a:t>
            </a:r>
            <a:br>
              <a:rPr lang="en-GB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Presenting score </a:t>
            </a:r>
            <a:br>
              <a:rPr lang="en-GB" dirty="0"/>
            </a:br>
            <a:r>
              <a:rPr lang="en-GB" dirty="0"/>
              <a:t>= “cost” of captured pieces.</a:t>
            </a:r>
            <a:br>
              <a:rPr lang="en-GB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Presenting player names</a:t>
            </a:r>
            <a:br>
              <a:rPr lang="en-GB" dirty="0"/>
            </a:b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b="1" dirty="0"/>
              <a:t>Observer</a:t>
            </a:r>
            <a:endParaRPr b="1" dirty="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150" y="1061150"/>
            <a:ext cx="5660176" cy="372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184</Words>
  <Application>Microsoft Office PowerPoint</Application>
  <PresentationFormat>‫הצגה על המסך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Wingdings</vt:lpstr>
      <vt:lpstr>Simple Light</vt:lpstr>
      <vt:lpstr>CTD 26</vt:lpstr>
      <vt:lpstr>Graphics: Image – Color &amp; Transparency</vt:lpstr>
      <vt:lpstr>Graphics: Image – Color &amp; Transparency</vt:lpstr>
      <vt:lpstr>Graphics: Animation</vt:lpstr>
      <vt:lpstr>Graphics: Animation</vt:lpstr>
      <vt:lpstr>Additional 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</cp:lastModifiedBy>
  <cp:revision>7</cp:revision>
  <dcterms:modified xsi:type="dcterms:W3CDTF">2026-07-14T03:51:17Z</dcterms:modified>
</cp:coreProperties>
</file>